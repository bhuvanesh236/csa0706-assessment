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ae7d425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fae7d425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ae7d425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ae7d425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ae7d4250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ae7d4250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ae7d4250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ae7d4250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ae7d4250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ae7d4250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ae7d4250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ae7d4250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240900"/>
            <a:ext cx="8520600" cy="17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b="1" lang="en" sz="2580">
                <a:latin typeface="Times New Roman"/>
                <a:ea typeface="Times New Roman"/>
                <a:cs typeface="Times New Roman"/>
                <a:sym typeface="Times New Roman"/>
              </a:rPr>
              <a:t>Analyze how network segmentation using VLANs improves performance and</a:t>
            </a:r>
            <a:endParaRPr b="1" sz="2580">
              <a:latin typeface="Times New Roman"/>
              <a:ea typeface="Times New Roman"/>
              <a:cs typeface="Times New Roman"/>
              <a:sym typeface="Times New Roman"/>
            </a:endParaRPr>
          </a:p>
          <a:p>
            <a:pPr indent="0" lvl="0" marL="0" rtl="0" algn="ctr">
              <a:spcBef>
                <a:spcPts val="0"/>
              </a:spcBef>
              <a:spcAft>
                <a:spcPts val="0"/>
              </a:spcAft>
              <a:buClr>
                <a:schemeClr val="dk1"/>
              </a:buClr>
              <a:buSzPts val="990"/>
              <a:buFont typeface="Arial"/>
              <a:buNone/>
            </a:pPr>
            <a:r>
              <a:rPr b="1" lang="en" sz="2580">
                <a:latin typeface="Times New Roman"/>
                <a:ea typeface="Times New Roman"/>
                <a:cs typeface="Times New Roman"/>
                <a:sym typeface="Times New Roman"/>
              </a:rPr>
              <a:t>security.</a:t>
            </a:r>
            <a:endParaRPr b="1" sz="2580">
              <a:latin typeface="Times New Roman"/>
              <a:ea typeface="Times New Roman"/>
              <a:cs typeface="Times New Roman"/>
              <a:sym typeface="Times New Roman"/>
            </a:endParaRPr>
          </a:p>
          <a:p>
            <a:pPr indent="0" lvl="0" marL="0" rtl="0" algn="ctr">
              <a:spcBef>
                <a:spcPts val="0"/>
              </a:spcBef>
              <a:spcAft>
                <a:spcPts val="0"/>
              </a:spcAft>
              <a:buSzPts val="990"/>
              <a:buNone/>
            </a:pPr>
            <a:r>
              <a:t/>
            </a:r>
            <a:endParaRPr b="1" sz="2580">
              <a:latin typeface="Times New Roman"/>
              <a:ea typeface="Times New Roman"/>
              <a:cs typeface="Times New Roman"/>
              <a:sym typeface="Times New Roman"/>
            </a:endParaRPr>
          </a:p>
        </p:txBody>
      </p:sp>
      <p:sp>
        <p:nvSpPr>
          <p:cNvPr id="55" name="Google Shape;55;p13"/>
          <p:cNvSpPr txBox="1"/>
          <p:nvPr/>
        </p:nvSpPr>
        <p:spPr>
          <a:xfrm>
            <a:off x="311700" y="3483700"/>
            <a:ext cx="2110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GUIDED BY</a:t>
            </a:r>
            <a:endParaRPr sz="1800">
              <a:solidFill>
                <a:schemeClr val="dk2"/>
              </a:solidFill>
            </a:endParaRPr>
          </a:p>
          <a:p>
            <a:pPr indent="0" lvl="0" marL="0" rtl="0" algn="l">
              <a:spcBef>
                <a:spcPts val="0"/>
              </a:spcBef>
              <a:spcAft>
                <a:spcPts val="0"/>
              </a:spcAft>
              <a:buNone/>
            </a:pPr>
            <a:r>
              <a:rPr lang="en" sz="1800">
                <a:solidFill>
                  <a:schemeClr val="dk2"/>
                </a:solidFill>
              </a:rPr>
              <a:t>Dr.V.PARTHIPAN</a:t>
            </a:r>
            <a:endParaRPr sz="1800">
              <a:solidFill>
                <a:schemeClr val="dk2"/>
              </a:solidFill>
            </a:endParaRPr>
          </a:p>
        </p:txBody>
      </p:sp>
      <p:pic>
        <p:nvPicPr>
          <p:cNvPr id="56" name="Google Shape;56;p13"/>
          <p:cNvPicPr preferRelativeResize="0"/>
          <p:nvPr/>
        </p:nvPicPr>
        <p:blipFill>
          <a:blip r:embed="rId3">
            <a:alphaModFix/>
          </a:blip>
          <a:stretch>
            <a:fillRect/>
          </a:stretch>
        </p:blipFill>
        <p:spPr>
          <a:xfrm>
            <a:off x="0" y="0"/>
            <a:ext cx="9144003" cy="1088500"/>
          </a:xfrm>
          <a:prstGeom prst="rect">
            <a:avLst/>
          </a:prstGeom>
          <a:noFill/>
          <a:ln>
            <a:noFill/>
          </a:ln>
        </p:spPr>
      </p:pic>
      <p:sp>
        <p:nvSpPr>
          <p:cNvPr id="57" name="Google Shape;57;p13"/>
          <p:cNvSpPr txBox="1"/>
          <p:nvPr/>
        </p:nvSpPr>
        <p:spPr>
          <a:xfrm>
            <a:off x="6606850" y="3483700"/>
            <a:ext cx="2110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C.BHUVANESH</a:t>
            </a:r>
            <a:endParaRPr sz="1800">
              <a:solidFill>
                <a:schemeClr val="dk2"/>
              </a:solidFill>
            </a:endParaRPr>
          </a:p>
          <a:p>
            <a:pPr indent="0" lvl="0" marL="0" rtl="0" algn="l">
              <a:spcBef>
                <a:spcPts val="0"/>
              </a:spcBef>
              <a:spcAft>
                <a:spcPts val="0"/>
              </a:spcAft>
              <a:buNone/>
            </a:pPr>
            <a:r>
              <a:rPr lang="en" sz="1800">
                <a:solidFill>
                  <a:schemeClr val="dk2"/>
                </a:solidFill>
              </a:rPr>
              <a:t>192521108</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Introduction </a:t>
            </a:r>
            <a:endParaRPr b="1">
              <a:latin typeface="Times New Roman"/>
              <a:ea typeface="Times New Roman"/>
              <a:cs typeface="Times New Roman"/>
              <a:sym typeface="Times New Roman"/>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000">
                <a:solidFill>
                  <a:schemeClr val="dk1"/>
                </a:solidFill>
                <a:latin typeface="Times New Roman"/>
                <a:ea typeface="Times New Roman"/>
                <a:cs typeface="Times New Roman"/>
                <a:sym typeface="Times New Roman"/>
              </a:rPr>
              <a:t>Network segmentation using VLANs (Virtual Local Area Networks)</a:t>
            </a:r>
            <a:r>
              <a:rPr lang="en" sz="2000">
                <a:solidFill>
                  <a:schemeClr val="dk1"/>
                </a:solidFill>
                <a:latin typeface="Times New Roman"/>
                <a:ea typeface="Times New Roman"/>
                <a:cs typeface="Times New Roman"/>
                <a:sym typeface="Times New Roman"/>
              </a:rPr>
              <a:t> is a technique used to divide a large physical network into smaller, logical networks. VLANs allow devices to be grouped based on departments, users, or functions, regardless of their physical location. This segmentation helps </a:t>
            </a:r>
            <a:r>
              <a:rPr b="1" lang="en" sz="2000">
                <a:solidFill>
                  <a:schemeClr val="dk1"/>
                </a:solidFill>
                <a:latin typeface="Times New Roman"/>
                <a:ea typeface="Times New Roman"/>
                <a:cs typeface="Times New Roman"/>
                <a:sym typeface="Times New Roman"/>
              </a:rPr>
              <a:t>reduce network traffic, improve performance, and increase security</a:t>
            </a:r>
            <a:r>
              <a:rPr lang="en" sz="2000">
                <a:solidFill>
                  <a:schemeClr val="dk1"/>
                </a:solidFill>
                <a:latin typeface="Times New Roman"/>
                <a:ea typeface="Times New Roman"/>
                <a:cs typeface="Times New Roman"/>
                <a:sym typeface="Times New Roman"/>
              </a:rPr>
              <a:t> by controlling communication between different groups. For example, a college can use separate VLANs for students, faculty, administration, and guests. </a:t>
            </a:r>
            <a:endParaRPr sz="27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Network Segmentation </a:t>
            </a:r>
            <a:endParaRPr b="1">
              <a:latin typeface="Times New Roman"/>
              <a:ea typeface="Times New Roman"/>
              <a:cs typeface="Times New Roman"/>
              <a:sym typeface="Times New Roman"/>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chemeClr val="dk1"/>
                </a:solidFill>
                <a:latin typeface="Times New Roman"/>
                <a:ea typeface="Times New Roman"/>
                <a:cs typeface="Times New Roman"/>
                <a:sym typeface="Times New Roman"/>
              </a:rPr>
              <a:t>Network segmentation</a:t>
            </a:r>
            <a:r>
              <a:rPr lang="en" sz="1700">
                <a:solidFill>
                  <a:schemeClr val="dk1"/>
                </a:solidFill>
                <a:latin typeface="Times New Roman"/>
                <a:ea typeface="Times New Roman"/>
                <a:cs typeface="Times New Roman"/>
                <a:sym typeface="Times New Roman"/>
              </a:rPr>
              <a:t> is the process of dividing a large computer network into smaller, separate sections called </a:t>
            </a:r>
            <a:r>
              <a:rPr b="1" lang="en" sz="1700">
                <a:solidFill>
                  <a:schemeClr val="dk1"/>
                </a:solidFill>
                <a:latin typeface="Times New Roman"/>
                <a:ea typeface="Times New Roman"/>
                <a:cs typeface="Times New Roman"/>
                <a:sym typeface="Times New Roman"/>
              </a:rPr>
              <a:t>segments</a:t>
            </a:r>
            <a:r>
              <a:rPr lang="en" sz="1700">
                <a:solidFill>
                  <a:schemeClr val="dk1"/>
                </a:solidFill>
                <a:latin typeface="Times New Roman"/>
                <a:ea typeface="Times New Roman"/>
                <a:cs typeface="Times New Roman"/>
                <a:sym typeface="Times New Roman"/>
              </a:rPr>
              <a:t>. Each segment can contain a specific group of users, devices, or services.</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VLANs are commonly used to achieve network segmentation. For example, an organization can create separate VLANs for </a:t>
            </a:r>
            <a:r>
              <a:rPr b="1" lang="en" sz="1700">
                <a:solidFill>
                  <a:schemeClr val="dk1"/>
                </a:solidFill>
                <a:latin typeface="Times New Roman"/>
                <a:ea typeface="Times New Roman"/>
                <a:cs typeface="Times New Roman"/>
                <a:sym typeface="Times New Roman"/>
              </a:rPr>
              <a:t>students, faculty, administration, and guests</a:t>
            </a:r>
            <a:r>
              <a:rPr lang="en" sz="1700">
                <a:solidFill>
                  <a:schemeClr val="dk1"/>
                </a:solidFill>
                <a:latin typeface="Times New Roman"/>
                <a:ea typeface="Times New Roman"/>
                <a:cs typeface="Times New Roman"/>
                <a:sym typeface="Times New Roman"/>
              </a:rPr>
              <a:t>.</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700">
                <a:solidFill>
                  <a:schemeClr val="dk1"/>
                </a:solidFill>
                <a:latin typeface="Times New Roman"/>
                <a:ea typeface="Times New Roman"/>
                <a:cs typeface="Times New Roman"/>
                <a:sym typeface="Times New Roman"/>
              </a:rPr>
              <a:t>Example:</a:t>
            </a:r>
            <a:br>
              <a:rPr b="1" lang="en" sz="1700">
                <a:solidFill>
                  <a:schemeClr val="dk1"/>
                </a:solidFill>
                <a:latin typeface="Times New Roman"/>
                <a:ea typeface="Times New Roman"/>
                <a:cs typeface="Times New Roman"/>
                <a:sym typeface="Times New Roman"/>
              </a:rPr>
            </a:br>
            <a:r>
              <a:rPr lang="en" sz="1700">
                <a:solidFill>
                  <a:schemeClr val="dk1"/>
                </a:solidFill>
                <a:latin typeface="Times New Roman"/>
                <a:ea typeface="Times New Roman"/>
                <a:cs typeface="Times New Roman"/>
                <a:sym typeface="Times New Roman"/>
              </a:rPr>
              <a:t> A college can use </a:t>
            </a:r>
            <a:r>
              <a:rPr b="1" lang="en" sz="1700">
                <a:solidFill>
                  <a:schemeClr val="dk1"/>
                </a:solidFill>
                <a:latin typeface="Times New Roman"/>
                <a:ea typeface="Times New Roman"/>
                <a:cs typeface="Times New Roman"/>
                <a:sym typeface="Times New Roman"/>
              </a:rPr>
              <a:t>VLAN 10 for students</a:t>
            </a:r>
            <a:r>
              <a:rPr lang="en" sz="1700">
                <a:solidFill>
                  <a:schemeClr val="dk1"/>
                </a:solidFill>
                <a:latin typeface="Times New Roman"/>
                <a:ea typeface="Times New Roman"/>
                <a:cs typeface="Times New Roman"/>
                <a:sym typeface="Times New Roman"/>
              </a:rPr>
              <a:t>, </a:t>
            </a:r>
            <a:r>
              <a:rPr b="1" lang="en" sz="1700">
                <a:solidFill>
                  <a:schemeClr val="dk1"/>
                </a:solidFill>
                <a:latin typeface="Times New Roman"/>
                <a:ea typeface="Times New Roman"/>
                <a:cs typeface="Times New Roman"/>
                <a:sym typeface="Times New Roman"/>
              </a:rPr>
              <a:t>VLAN 20 for faculty</a:t>
            </a:r>
            <a:r>
              <a:rPr lang="en" sz="1700">
                <a:solidFill>
                  <a:schemeClr val="dk1"/>
                </a:solidFill>
                <a:latin typeface="Times New Roman"/>
                <a:ea typeface="Times New Roman"/>
                <a:cs typeface="Times New Roman"/>
                <a:sym typeface="Times New Roman"/>
              </a:rPr>
              <a:t>, and </a:t>
            </a:r>
            <a:r>
              <a:rPr b="1" lang="en" sz="1700">
                <a:solidFill>
                  <a:schemeClr val="dk1"/>
                </a:solidFill>
                <a:latin typeface="Times New Roman"/>
                <a:ea typeface="Times New Roman"/>
                <a:cs typeface="Times New Roman"/>
                <a:sym typeface="Times New Roman"/>
              </a:rPr>
              <a:t>VLAN 30 for administration</a:t>
            </a:r>
            <a:r>
              <a:rPr lang="en" sz="1700">
                <a:solidFill>
                  <a:schemeClr val="dk1"/>
                </a:solidFill>
                <a:latin typeface="Times New Roman"/>
                <a:ea typeface="Times New Roman"/>
                <a:cs typeface="Times New Roman"/>
                <a:sym typeface="Times New Roman"/>
              </a:rPr>
              <a:t>. Devices in each VLAN are logically separated, even though they may use the same physical network switches.</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VLANs and Network Security </a:t>
            </a:r>
            <a:endParaRPr b="1">
              <a:latin typeface="Times New Roman"/>
              <a:ea typeface="Times New Roman"/>
              <a:cs typeface="Times New Roman"/>
              <a:sym typeface="Times New Roman"/>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VLANs improve </a:t>
            </a:r>
            <a:r>
              <a:rPr b="1" lang="en" sz="1500">
                <a:solidFill>
                  <a:schemeClr val="dk1"/>
                </a:solidFill>
              </a:rPr>
              <a:t>network security</a:t>
            </a:r>
            <a:r>
              <a:rPr lang="en" sz="1500">
                <a:solidFill>
                  <a:schemeClr val="dk1"/>
                </a:solidFill>
              </a:rPr>
              <a:t> by separating users and devices into different logical networks. This prevents all devices from freely communicating with each other and allows administrators to control which VLANs can access specific resources. </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br>
              <a:rPr b="1" lang="en" sz="1500">
                <a:solidFill>
                  <a:schemeClr val="dk1"/>
                </a:solidFill>
              </a:rPr>
            </a:br>
            <a:r>
              <a:rPr lang="en" sz="1500">
                <a:solidFill>
                  <a:schemeClr val="dk1"/>
                </a:solidFill>
              </a:rPr>
              <a:t> In a college, the </a:t>
            </a:r>
            <a:r>
              <a:rPr b="1" lang="en" sz="1500">
                <a:solidFill>
                  <a:schemeClr val="dk1"/>
                </a:solidFill>
              </a:rPr>
              <a:t>Administration VLAN</a:t>
            </a:r>
            <a:r>
              <a:rPr lang="en" sz="1500">
                <a:solidFill>
                  <a:schemeClr val="dk1"/>
                </a:solidFill>
              </a:rPr>
              <a:t> can contain sensitive student and financial records. Students can be placed in a separate </a:t>
            </a:r>
            <a:r>
              <a:rPr b="1" lang="en" sz="1500">
                <a:solidFill>
                  <a:schemeClr val="dk1"/>
                </a:solidFill>
              </a:rPr>
              <a:t>Student VLAN</a:t>
            </a:r>
            <a:r>
              <a:rPr lang="en" sz="1500">
                <a:solidFill>
                  <a:schemeClr val="dk1"/>
                </a:solidFill>
              </a:rPr>
              <a:t>, with rules preventing them from accessing administration systems.</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In short:</a:t>
            </a:r>
            <a:r>
              <a:rPr lang="en" sz="1500">
                <a:solidFill>
                  <a:schemeClr val="dk1"/>
                </a:solidFill>
              </a:rPr>
              <a:t> VLANs provide an additional layer of security by </a:t>
            </a:r>
            <a:r>
              <a:rPr b="1" lang="en" sz="1500">
                <a:solidFill>
                  <a:schemeClr val="dk1"/>
                </a:solidFill>
              </a:rPr>
              <a:t>isolating devices, controlling access, and reducing the impact of security threats</a:t>
            </a:r>
            <a:r>
              <a:rPr lang="en" sz="1500">
                <a:solidFill>
                  <a:schemeClr val="dk1"/>
                </a:solidFill>
              </a:rPr>
              <a:t>.</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Advantages of VLAN Segmentation </a:t>
            </a:r>
            <a:endParaRPr b="1">
              <a:latin typeface="Times New Roman"/>
              <a:ea typeface="Times New Roman"/>
              <a:cs typeface="Times New Roman"/>
              <a:sym typeface="Times New Roman"/>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VLAN segmentation provides several benefits for an organization by dividing a network into smaller logical networks.</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AutoNum type="arabicPeriod"/>
            </a:pPr>
            <a:r>
              <a:rPr b="1" lang="en" sz="1400">
                <a:solidFill>
                  <a:schemeClr val="dk1"/>
                </a:solidFill>
                <a:latin typeface="Times New Roman"/>
                <a:ea typeface="Times New Roman"/>
                <a:cs typeface="Times New Roman"/>
                <a:sym typeface="Times New Roman"/>
              </a:rPr>
              <a:t>Improved Network Performance</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VLANs reduce unnecessary broadcast traffic, which helps improve network speed and efficiency.</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b="1" lang="en" sz="1400">
                <a:solidFill>
                  <a:schemeClr val="dk1"/>
                </a:solidFill>
                <a:latin typeface="Times New Roman"/>
                <a:ea typeface="Times New Roman"/>
                <a:cs typeface="Times New Roman"/>
                <a:sym typeface="Times New Roman"/>
              </a:rPr>
              <a:t>Enhanced Security</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Users and devices can be isolated into different VLANs, reducing unauthorized access.</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b="1" lang="en" sz="1400">
                <a:solidFill>
                  <a:schemeClr val="dk1"/>
                </a:solidFill>
                <a:latin typeface="Times New Roman"/>
                <a:ea typeface="Times New Roman"/>
                <a:cs typeface="Times New Roman"/>
                <a:sym typeface="Times New Roman"/>
              </a:rPr>
              <a:t>Reduced Network Congestion</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Since traffic is limited to specific VLANs, the overall amount of network traffic is reduced.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b="1" lang="en" sz="1400">
                <a:solidFill>
                  <a:schemeClr val="dk1"/>
                </a:solidFill>
                <a:latin typeface="Times New Roman"/>
                <a:ea typeface="Times New Roman"/>
                <a:cs typeface="Times New Roman"/>
                <a:sym typeface="Times New Roman"/>
              </a:rPr>
              <a:t>Better Bandwidth Utilization</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Network bandwidth is used more efficiently because unnecessary traffic is restricted.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b="1" lang="en" sz="1400">
                <a:solidFill>
                  <a:schemeClr val="dk1"/>
                </a:solidFill>
                <a:latin typeface="Times New Roman"/>
                <a:ea typeface="Times New Roman"/>
                <a:cs typeface="Times New Roman"/>
                <a:sym typeface="Times New Roman"/>
              </a:rPr>
              <a:t>Easy Network Management</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Administrators can organize users and devices based on departments or functions.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1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Conclusion </a:t>
            </a:r>
            <a:endParaRPr b="1">
              <a:latin typeface="Times New Roman"/>
              <a:ea typeface="Times New Roman"/>
              <a:cs typeface="Times New Roman"/>
              <a:sym typeface="Times New Roman"/>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Network segmentation using </a:t>
            </a:r>
            <a:r>
              <a:rPr b="1" lang="en">
                <a:solidFill>
                  <a:schemeClr val="dk1"/>
                </a:solidFill>
                <a:latin typeface="Times New Roman"/>
                <a:ea typeface="Times New Roman"/>
                <a:cs typeface="Times New Roman"/>
                <a:sym typeface="Times New Roman"/>
              </a:rPr>
              <a:t>VLANs</a:t>
            </a:r>
            <a:r>
              <a:rPr lang="en">
                <a:solidFill>
                  <a:schemeClr val="dk1"/>
                </a:solidFill>
                <a:latin typeface="Times New Roman"/>
                <a:ea typeface="Times New Roman"/>
                <a:cs typeface="Times New Roman"/>
                <a:sym typeface="Times New Roman"/>
              </a:rPr>
              <a:t> is an effective way to improve both </a:t>
            </a:r>
            <a:r>
              <a:rPr b="1" lang="en">
                <a:solidFill>
                  <a:schemeClr val="dk1"/>
                </a:solidFill>
                <a:latin typeface="Times New Roman"/>
                <a:ea typeface="Times New Roman"/>
                <a:cs typeface="Times New Roman"/>
                <a:sym typeface="Times New Roman"/>
              </a:rPr>
              <a:t>network performance and security</a:t>
            </a:r>
            <a:r>
              <a:rPr lang="en">
                <a:solidFill>
                  <a:schemeClr val="dk1"/>
                </a:solidFill>
                <a:latin typeface="Times New Roman"/>
                <a:ea typeface="Times New Roman"/>
                <a:cs typeface="Times New Roman"/>
                <a:sym typeface="Times New Roman"/>
              </a:rPr>
              <a:t>. By dividing a network into smaller logical segments, VLANs reduce broadcast traffic, minimize congestion, and make better use of bandwidth. They also provide security by isolating users, protecting sensitive information, and controlling communication between different groups. Therefore, VLAN segmentation helps organizations build a </a:t>
            </a:r>
            <a:r>
              <a:rPr b="1" lang="en">
                <a:solidFill>
                  <a:schemeClr val="dk1"/>
                </a:solidFill>
                <a:latin typeface="Times New Roman"/>
                <a:ea typeface="Times New Roman"/>
                <a:cs typeface="Times New Roman"/>
                <a:sym typeface="Times New Roman"/>
              </a:rPr>
              <a:t>faster, more secure, manageable, and scalable network</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5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idx="1" type="body"/>
          </p:nvPr>
        </p:nvSpPr>
        <p:spPr>
          <a:xfrm>
            <a:off x="3012000" y="2212050"/>
            <a:ext cx="3120000" cy="719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770"/>
              <a:buNone/>
            </a:pPr>
            <a:r>
              <a:rPr b="1" lang="en" sz="3560">
                <a:latin typeface="Times New Roman"/>
                <a:ea typeface="Times New Roman"/>
                <a:cs typeface="Times New Roman"/>
                <a:sym typeface="Times New Roman"/>
              </a:rPr>
              <a:t>THANKYOU</a:t>
            </a:r>
            <a:endParaRPr b="1" sz="3360">
              <a:latin typeface="Times New Roman"/>
              <a:ea typeface="Times New Roman"/>
              <a:cs typeface="Times New Roman"/>
              <a:sym typeface="Times New Roman"/>
            </a:endParaRPr>
          </a:p>
        </p:txBody>
      </p:sp>
      <p:sp>
        <p:nvSpPr>
          <p:cNvPr id="93" name="Google Shape;93;p19"/>
          <p:cNvSpPr txBox="1"/>
          <p:nvPr/>
        </p:nvSpPr>
        <p:spPr>
          <a:xfrm>
            <a:off x="2470175" y="1427625"/>
            <a:ext cx="365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